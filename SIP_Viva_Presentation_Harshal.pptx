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Event-Day % Change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COVID-19
Pandemic</c:v>
                </c:pt>
                <c:pt idx="1">
                  <c:v>Russia-Ukraine
War</c:v>
                </c:pt>
                <c:pt idx="2">
                  <c:v>India General
Elections 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-12.98</c:v>
                </c:pt>
                <c:pt idx="1">
                  <c:v>-4.78</c:v>
                </c:pt>
                <c:pt idx="2">
                  <c:v>-5.93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47-48E2-84D0-507F2B4E2F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6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% Change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Trading Days to Recover</c:v>
                </c:pt>
              </c:strCache>
            </c:strRef>
          </c:tx>
          <c:spPr>
            <a:solidFill>
              <a:srgbClr val="1F9D6F"/>
            </a:solidFill>
            <a:effectLst/>
          </c:spPr>
          <c:invertIfNegative val="0"/>
          <c:dLbls>
            <c:numFmt formatCode="0&quot; day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India General
Elections 2024</c:v>
                </c:pt>
                <c:pt idx="1">
                  <c:v>COVID-19
Pandemic</c:v>
                </c:pt>
                <c:pt idx="2">
                  <c:v>Russia-Ukraine
War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9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AF-48C7-9CA3-4A84B55646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6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Trading Days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664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seindia.com/" TargetMode="External"/><Relationship Id="rId2" Type="http://schemas.openxmlformats.org/officeDocument/2006/relationships/hyperlink" Target="http://www.bseindia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sebi.gov.in/" TargetMode="External"/><Relationship Id="rId4" Type="http://schemas.openxmlformats.org/officeDocument/2006/relationships/hyperlink" Target="http://www.rbi.org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PROJECT  |  VIVA VOCE PRESENTATION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Study on the Performance of NIFTY 50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 Major Economic Events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3703320"/>
            <a:ext cx="210312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9776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Vikas Chauhan</a:t>
            </a: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No: 202524400004  |  SEM-3  |  BEPF</a:t>
            </a: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Dr. Sonali Ramchandani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5989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Demat Share Solutions, Mumbai   |   Department of Public Policy and Governance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B.K. School of Professional &amp; Management Studies, Gujarat University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E068D5-D81F-642B-393F-CB93BAE0B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131" y="140970"/>
            <a:ext cx="1824989" cy="18249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E5F92B-F144-A45A-8C52-A0C56193F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8290" y="0"/>
            <a:ext cx="1965959" cy="19659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5623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562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16712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problem statement, and research objectives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185623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8562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Industry Profile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16712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Demat Share Solutions and the stock broking industry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5021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502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3429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381304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studies reviewed; the research gap identified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246120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8232" y="35021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3502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3429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381304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data sources, sampling, and statistical tools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51480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5148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00200" y="5074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&amp; Findings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00200" y="545896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impact and recovery-pattern results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892040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28232" y="51480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428232" y="5148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23760" y="5074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23760" y="545896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takeaways for investors and advisors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During Major Economic Events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—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Study, and What It Set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BACKGROUND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NIFTY 50 is India's primary equity benchmark, spanning 50 companies across 15 sectors. It has weathered the 2008 crisis, COVID-19, elections, and geopolitical shocks — yet no single study compares its reaction across event categories for 2020–2025.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Demat Share Solutions (Mumbai) needs evidence-based understanding of how different event categories move markets, to advise retail clients confidently during periods of uncertainty.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2295144"/>
            <a:ext cx="73152" cy="10515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2402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253288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overall performance of NIFTY 50 during major economic events, 2020–2025.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3593592"/>
            <a:ext cx="73152" cy="10515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353872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383133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the impact of a health-crisis, a geopolitical, and a political-electoral event on NIFTY 50.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37960" y="4892040"/>
            <a:ext cx="73152" cy="10515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483717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5129784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NIFTY 50's recovery pattern after each event and how long it took to return to pre-event levels.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During Major Economic Events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— COMPANY &amp; INDUSTRY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Demat Share Solutions, in the Context of a Fast-Growing Industry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Mumbai-based stock broking and financial advisory firm offering equity, derivatives, and research-backed advisory to retail clients — operating in one of the world's fastest-growing capital markets.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17+ Cr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Demat accounts in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(2025)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23317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₹400+ LC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0" y="32918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BSE market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23317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5,500+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63640" y="32918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listed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23317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052560" y="32918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F&amp;O traders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incur net losses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2628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DEMAT SHARE SOLUTIONS — CORE STRENGTH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864608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Personalised, research-backed advisory across equity, derivatives, and technical analysis — differentiated from large discount brokers (Zerodha, Groww, Upstox) through direct client relationships and a lean, mentorship-driven team led by Reporting Manager Ms. Khushi Gandhi.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During Major Economic Events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Studies Reviewed — One Clear Gap Remained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3520440" cy="73152"/>
          </a:xfrm>
          <a:prstGeom prst="rect">
            <a:avLst/>
          </a:prstGeom>
          <a:solidFill>
            <a:srgbClr val="1F9D6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 &amp; Volatility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0632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Rakshit &amp; Basistha (2023); Dey &amp; Bhattacharjee (2023): COVID-19 volatility more than doubled; –38% fall in March 2020, fastest recovery on record.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33672" y="155448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4233672" y="1554480"/>
            <a:ext cx="352044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4462272" y="18288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Elections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62272" y="2423160"/>
            <a:ext cx="30632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Researchers (2025); Multiple Researchers (2024): Budget &amp; RBI announcements move markets on surprise, not direction alone; 2024 Elections caused a short, sharp dip.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28035" y="1563811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918704" y="1554480"/>
            <a:ext cx="352044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8147304" y="18288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Geopolitics &amp; Flows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47304" y="2423160"/>
            <a:ext cx="30632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Kaushik &amp; Kumar (2023); Agarwal et al. (2023): Russia-Ukraine war triggered a significant fall via oil-price shock; FII selling amplifies event impact.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0060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GAP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study compares NIFTY 50's reaction and recovery across a health-crisis, a geopolitical, and a political-electoral event within one framework for 2020–2025 — the exact gap this study fills.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During Major Economic Events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RESEARCH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Quantitative, Secondary-Data Event Study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5623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4048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15768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&amp; comparative; quantitative approach; secondary-data event-study method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2C3878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85623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20440" y="24048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715768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daily closing prices, NSE India (2020–25); cross-verified via BSE, RBI, SEBI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85623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09360" y="24048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715768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purposively selected events; 301 trading-day observations; 30 days pre- + 60–90 days post-event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915400" y="16916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2C3878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185623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098280" y="24048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98280" y="2715768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IBM SPSS 27 — descriptive stats, % change, paired t-test, Pearson correlation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4348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STUDIED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800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Pandemic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14807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Mar 2020  •  Health-Crisis Event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89120" y="4800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Russia-Ukraine War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0" y="514807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Feb 2022  •  Geopolitical Event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955280" y="4800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General Elections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55280" y="514807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Jun 2024  •  Political-Electoral Event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During Major Economic Events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HYPOTHESIS FRAMING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Objectives, Two Pairs of Hypotheses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Impact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4800600" cy="1417320"/>
          </a:xfrm>
          <a:prstGeom prst="roundRect">
            <a:avLst>
              <a:gd name="adj" fmla="val 3871"/>
            </a:avLst>
          </a:prstGeom>
          <a:solidFill>
            <a:srgbClr val="2C3878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880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288036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economic events do NOT have a significant negative impact on NIFTY 50.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4800600" cy="1417320"/>
          </a:xfrm>
          <a:prstGeom prst="roundRect">
            <a:avLst>
              <a:gd name="adj" fmla="val 3871"/>
            </a:avLst>
          </a:prstGeom>
          <a:solidFill>
            <a:srgbClr val="2C387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434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9D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443484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economic events DO have a significant negative impact on NIFTY 50.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8288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1031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Pattern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46520" y="2743200"/>
            <a:ext cx="4800600" cy="1417320"/>
          </a:xfrm>
          <a:prstGeom prst="roundRect">
            <a:avLst>
              <a:gd name="adj" fmla="val 3871"/>
            </a:avLst>
          </a:prstGeom>
          <a:solidFill>
            <a:srgbClr val="2C3878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880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0" y="288036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significant difference in NIFTY 50's recovery pattern across events.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4297680"/>
            <a:ext cx="4800600" cy="1417320"/>
          </a:xfrm>
          <a:prstGeom prst="roundRect">
            <a:avLst>
              <a:gd name="adj" fmla="val 3871"/>
            </a:avLst>
          </a:prstGeom>
          <a:solidFill>
            <a:srgbClr val="2C3878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434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9D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443484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significant difference in NIFTY 50's recovery pattern across events.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During Major Economic Events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5/6 — DATA ANALYSIS &amp;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Event Hit NIFTY 50 Hard — COVID-19 Hardest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554480"/>
            <a:ext cx="425196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406640" y="1719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CONFIRMED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406640" y="20116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paired-samples t-test: post-event volatility rose significantly for all 3 events (p &lt; .05 in every case).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971800"/>
            <a:ext cx="4251960" cy="2788920"/>
          </a:xfrm>
          <a:prstGeom prst="roundRect">
            <a:avLst>
              <a:gd name="adj" fmla="val 262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3127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345643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(Objective 1) </a:t>
            </a: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
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(Objective 1) </a:t>
            </a:r>
            <a:r>
              <a:rPr lang="en-US" sz="1400" b="1" dirty="0">
                <a:solidFill>
                  <a:srgbClr val="1F9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06640" y="429768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economic events DO have a significant negative impact on NIFTY 50's daily closing price and returns.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D8F4880D-E8D5-CC8E-B59A-ABB74BF07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5925312"/>
            <a:ext cx="11049000" cy="7429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30B2C8E-D4AE-F9A6-3D57-DEF91308EE6A}"/>
              </a:ext>
            </a:extLst>
          </p:cNvPr>
          <p:cNvSpPr txBox="1"/>
          <p:nvPr/>
        </p:nvSpPr>
        <p:spPr>
          <a:xfrm>
            <a:off x="632149" y="6037594"/>
            <a:ext cx="10545924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 i="0" u="none" dirty="0">
                <a:solidFill>
                  <a:srgbClr val="065F46"/>
                </a:solidFill>
                <a:latin typeface="Inter"/>
              </a:rPr>
              <a:t>Analysis &amp; Interpretation:</a:t>
            </a:r>
            <a:r>
              <a:rPr lang="en-US" sz="1200" b="0" i="0" u="none" dirty="0">
                <a:solidFill>
                  <a:srgbClr val="065F46"/>
                </a:solidFill>
                <a:latin typeface="Inter"/>
              </a:rPr>
              <a:t> Statistical testing confirms that post-event volatility rose significantly across all categories (p &lt; 0.05). Major economic events exert a severe, statistically confirmed negative impact on NIFTY 50 daily returns, validating H₁ for Objective 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5/6 — DATA ANALYSIS &amp;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Speed Depended on the Type of Event, Not the Size of the Fall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554480"/>
            <a:ext cx="425196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406640" y="1719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406640" y="201168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caused the sharpest fall (−12.98%) but recovered in 9 days — faster than the Russia-Ukraine War (–4.78% fall, 14 days). Severity of the shock did not predict recovery speed.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178040" y="3977640"/>
            <a:ext cx="4251960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4133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4434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(Objective 2)  </a:t>
            </a: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 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</a:t>
            </a:r>
            <a:r>
              <a:rPr lang="en-US" sz="1300" b="1" dirty="0">
                <a:solidFill>
                  <a:srgbClr val="1F9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06640" y="48920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pattern differs significantly across event categories — geopolitical events recover slowest.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56197738-80CB-9673-333A-D1FF69B3C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68162"/>
            <a:ext cx="11049000" cy="7429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6373943-2259-BAB4-486A-20ADACF5FE06}"/>
              </a:ext>
            </a:extLst>
          </p:cNvPr>
          <p:cNvSpPr txBox="1"/>
          <p:nvPr/>
        </p:nvSpPr>
        <p:spPr>
          <a:xfrm>
            <a:off x="700262" y="5981804"/>
            <a:ext cx="10789919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 i="0" u="none" dirty="0">
                <a:solidFill>
                  <a:srgbClr val="065F46"/>
                </a:solidFill>
                <a:latin typeface="Inter"/>
              </a:rPr>
              <a:t>Analysis &amp; Interpretation:</a:t>
            </a:r>
            <a:r>
              <a:rPr lang="en-US" sz="1200" b="0" i="0" u="none" dirty="0">
                <a:solidFill>
                  <a:srgbClr val="065F46"/>
                </a:solidFill>
                <a:latin typeface="Inter"/>
              </a:rPr>
              <a:t> Recovery speed depends on the nature of the shock rather than its initial magnitude. Health crises recover faster than protracted geopolitical conflicts, leading to the rejection of H₀ for Objective 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CONSOLIDATED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Picture, Event by Event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0881360" cy="214884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Event-Day Fall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Period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Observation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COVID-19 Pandemic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-12.98%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trading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Sharpest fall; highest post-event volatility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Russia-Ukraine War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trading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fall; slowest recovery of the three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Elections 2024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-5.93%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trading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 but short-lived; fastest recovery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10881360" cy="205740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16052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HYPOTHESES CONFIRMED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45262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Rejected → H₁ Accepted  —  events DO significantly impact NIFTY 50.
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Rejected → H₁ Accepted  —  recovery pattern DOES differ significantly across event categories.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During Major Economic Events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SUGGESTIONS &amp;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Findings Into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1965960"/>
            <a:ext cx="640080" cy="640080"/>
          </a:xfrm>
          <a:prstGeom prst="ellipse">
            <a:avLst/>
          </a:prstGeom>
          <a:solidFill>
            <a:srgbClr val="1F9D6F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1488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panic-selling on the event day — falls are typically followed by a structured recovery, not a permanent loss.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320540" y="196596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3205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2044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Demat Share Solutions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383280"/>
            <a:ext cx="21488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event-category advisory playbook; tighten leverage advice in the 30 days after any major event.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09460" y="1965960"/>
            <a:ext cx="640080" cy="64008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6" name="Text 14"/>
          <p:cNvSpPr/>
          <p:nvPr/>
        </p:nvSpPr>
        <p:spPr>
          <a:xfrm>
            <a:off x="71094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3383280"/>
            <a:ext cx="21488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re-entry timing by event category — faster for elections, staggered for geopolitical shocks.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1540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9898380" y="196596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989838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9828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0" y="3383280"/>
            <a:ext cx="21488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stabilisation mechanisms and investor awareness around anticipated high-impact events.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During Major Economic Events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00200" y="-1970532"/>
            <a:ext cx="5486400" cy="54864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11480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economic events leave a statistically significant mark on NIFTY 50 — and how fast the market recovers depends on the type of event, not just the size of the shock.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6791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Health-crisis events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the sharpest immediate shock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18211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events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longest to recover from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68503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Political-electoral events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absorbed by the market the fastest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617720"/>
            <a:ext cx="10424160" cy="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006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offer evidence-based value for retail investors, for Demat Share Solutions and similar advisory firms, for portfolio and risk managers, and for market regulators.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7607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2960" y="6355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Vikas Chauhan  |  Demat Share Solutions  |  Gujarat University (BK DPPG)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46F6F3F7-CB93-358B-C825-B0209ECEC335}"/>
              </a:ext>
            </a:extLst>
          </p:cNvPr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072654-304B-0375-E359-602083FA35E9}"/>
              </a:ext>
            </a:extLst>
          </p:cNvPr>
          <p:cNvSpPr/>
          <p:nvPr/>
        </p:nvSpPr>
        <p:spPr>
          <a:xfrm>
            <a:off x="4480560" y="-120015"/>
            <a:ext cx="2634615" cy="1217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</a:t>
            </a:r>
            <a:endParaRPr lang="en-US" sz="30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948C9A53-646E-421B-AE21-87671734F86C}"/>
              </a:ext>
            </a:extLst>
          </p:cNvPr>
          <p:cNvSpPr/>
          <p:nvPr/>
        </p:nvSpPr>
        <p:spPr>
          <a:xfrm>
            <a:off x="1143000" y="26791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2C1355D-7D50-C913-E7BE-AED9007A4F3B}"/>
              </a:ext>
            </a:extLst>
          </p:cNvPr>
          <p:cNvSpPr txBox="1"/>
          <p:nvPr/>
        </p:nvSpPr>
        <p:spPr>
          <a:xfrm>
            <a:off x="535888" y="795377"/>
            <a:ext cx="11120224" cy="718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Agarwal, S., Bhattacharjee, K., &amp; Bhattacharjee, A. (2023).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Causal and long-run relationship between FII flows and NIFTY 50: A cointegration and VECM approach.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All Finance Journal. (2025).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Performance and growth of NIFTY 50: A five-year analysis (April 2019–March 2024).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arXiv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Researchers. (2025).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Impact of Union Budget announcements on NIFTY 50: An event study using CAPM-based abnormal returns.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Bekaert, G., Harvey, C. R., &amp; Lundblad, C. (2005).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Does financial liberalization spur growth? Journal of Financial Economics.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Bhatt, V., &amp; Virmani, A. (2005).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Global integration of India's money market: Interest rate parity in India.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Bodla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B. S., &amp; Jindal, K. (2006).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Seasonal anomalies in stock returns: Evidence from India and the US. Decision.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Bombay Stock Exchange of India. Cross-verification market data (2020–2025). </a:t>
            </a:r>
            <a:r>
              <a:rPr lang="en-US" sz="12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www.bseindia.com</a:t>
            </a:r>
            <a:endParaRPr lang="en-US" sz="1200" u="sng" dirty="0">
              <a:solidFill>
                <a:srgbClr val="0563C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  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Stock Exchange of India. NIFTY 50 historical daily closing price data (2020–2025). 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www.nseindia.com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AutoNum type="arabicPeriod" startAt="9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Reserve Bank of India. (2025). RBI Annual Report 2024–25. 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www.rbi.org.in</a:t>
            </a:r>
            <a:endParaRPr lang="en-US" sz="1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FontTx/>
              <a:buAutoNum type="arabicPeriod" startAt="9"/>
            </a:pP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SEBI. (2024).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on profit and loss of individual traders in the equity F&amp;O segment. 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www.sebi.gov.in</a:t>
            </a:r>
            <a:endParaRPr lang="en-US" sz="1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FontTx/>
              <a:buAutoNum type="arabicPeriod" startAt="9"/>
            </a:pP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SEBI. (2025).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SEBI Annual Report 2024–25 — Broking Industry Overview. 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www.sebi.gov.in</a:t>
            </a:r>
            <a:endParaRPr lang="en-US" sz="1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FontTx/>
              <a:buAutoNum type="arabicPeriod" startAt="9"/>
            </a:pP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Authors. (2023).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performance of NIFTY 50 pre- and post-COVID-19: A resilience analysis.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FontTx/>
              <a:buAutoNum type="arabicPeriod" startAt="9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Researchers. (2024).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study on the impact of the 2024 Indian General Elections on the NSE stock market.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FontTx/>
              <a:buAutoNum type="arabicPeriod" startAt="9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FontTx/>
              <a:buAutoNum type="arabicPeriod" startAt="9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AutoNum type="arabicPeriod" startAt="9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50000"/>
              </a:lnSpc>
              <a:spcAft>
                <a:spcPts val="1200"/>
              </a:spcAft>
            </a:pP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020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</TotalTime>
  <Words>1687</Words>
  <Application>Microsoft Office PowerPoint</Application>
  <PresentationFormat>Widescreen</PresentationFormat>
  <Paragraphs>214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Inter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Harshal Chauhan</cp:lastModifiedBy>
  <cp:revision>3</cp:revision>
  <dcterms:created xsi:type="dcterms:W3CDTF">2026-07-27T19:21:02Z</dcterms:created>
  <dcterms:modified xsi:type="dcterms:W3CDTF">2026-08-06T13:06:12Z</dcterms:modified>
</cp:coreProperties>
</file>